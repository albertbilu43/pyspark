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8" r:id="rId2"/>
    <p:sldId id="257" r:id="rId3"/>
    <p:sldId id="256" r:id="rId4"/>
    <p:sldId id="260" r:id="rId5"/>
    <p:sldId id="261" r:id="rId6"/>
    <p:sldId id="259" r:id="rId7"/>
  </p:sldIdLst>
  <p:sldSz cx="12192000" cy="6858000"/>
  <p:notesSz cx="6858000" cy="9144000"/>
  <p:defaultTextStyle>
    <a:defPPr>
      <a:defRPr lang="en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414"/>
    <p:restoredTop sz="94054"/>
  </p:normalViewPr>
  <p:slideViewPr>
    <p:cSldViewPr snapToGrid="0">
      <p:cViewPr varScale="1">
        <p:scale>
          <a:sx n="75" d="100"/>
          <a:sy n="75" d="100"/>
        </p:scale>
        <p:origin x="978" y="2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E7E227-FD43-EB9B-C347-D73AD2BDB5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F98978D-A1B3-51AB-34BD-288AF16E1E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E9D5DA-8EF1-9EC6-B315-81CFD53757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71C51-E0EC-8F47-9C04-007C8D2656A7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ECBB47-96A4-5722-90D2-BE21BB2B96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031058-BCA5-C1B6-66B7-D4D92B212A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F3149C-7DED-4D4B-A841-02CDEAD895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18636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10D43D-9C8E-8F30-B7D7-C1E59FF97F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76811F-741E-543F-1FE2-B30AB38C8E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6B9C0D-12C5-CCF5-7EA1-61C4A9D0D6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71C51-E0EC-8F47-9C04-007C8D2656A7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63953C-8E7C-038E-4E16-E7098F57A1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936B1C-7340-1A81-2639-6E4C02537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F3149C-7DED-4D4B-A841-02CDEAD895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41441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CADF94-02AE-11EC-7D11-6177637DEE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866F0E-0BEF-BD4A-0B8E-760165F706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C9F918-A534-CA54-4A2B-1243CC45F5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71C51-E0EC-8F47-9C04-007C8D2656A7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DB5562-A9DD-CC74-C51C-D5D3E0D103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71FBC1-FA9E-1060-8699-D851B8EDE5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F3149C-7DED-4D4B-A841-02CDEAD895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04486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93EE20-7027-2BEE-8227-D32F5956FE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CAF882-60B2-28F0-7753-FFC51DF64F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85E747-726B-CD98-ED5C-9DDBE691F3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258628-DC70-0928-5829-C3A31D0AEC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71C51-E0EC-8F47-9C04-007C8D2656A7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4C7D6B-4486-1D4B-ACA4-796C6F30E6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BC9C48-1172-D3BF-7239-FCD64F91A3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F3149C-7DED-4D4B-A841-02CDEAD895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77768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764884-04DD-3D8C-8300-DC492B3B73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277619-94A5-4B02-8CCC-08E6DF2417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4F8947-5798-8B6D-9E93-08FCB2CF9F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2FAE22-18E5-73DE-E4E1-89A9F838D9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B272D02-32B7-9B47-2AD5-836CD6FC198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62B5B60-16CE-A147-74E8-7B5E1A4A43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71C51-E0EC-8F47-9C04-007C8D2656A7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4BB6E3D-545B-D630-C7BE-33A2C8143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0F80C7-74B3-D595-4E02-7ECBA5F414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F3149C-7DED-4D4B-A841-02CDEAD895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12418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9AEC12-27EA-FBDE-BB56-9D0D77EEB2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2304D0E-51DE-2878-6CBA-AF9CF797F6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71C51-E0EC-8F47-9C04-007C8D2656A7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A0A951-7EBE-B4FE-FA1F-5A6B7086B4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1FA04A-7D40-0997-E69C-AF494246F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F3149C-7DED-4D4B-A841-02CDEAD895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21685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39293E0-5D08-E86D-5977-DC648D066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71C51-E0EC-8F47-9C04-007C8D2656A7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AFD7BDA-7ACE-9716-1997-42F5C44525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18A026-A612-4158-BF39-71AB1C9D15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F3149C-7DED-4D4B-A841-02CDEAD895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15754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32126C-66A6-0111-491D-51BC55C59C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84B364-758B-C33D-1B01-03923B7BC3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FF2FF5-3A4B-A213-4FEF-366D899F3A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5A95C5-DA00-B097-8D31-4D5DEFE33C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71C51-E0EC-8F47-9C04-007C8D2656A7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22E658-B21D-AD29-D3B6-D46268B6AA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5E3E5D-C284-4CD9-6F52-4268982FCF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F3149C-7DED-4D4B-A841-02CDEAD895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79783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CD9402-9177-C916-301F-5FCE0F64E1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B025243-0746-F3CE-AB18-140CD0BA52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57C3E8-28D2-55E5-114E-EBAF34095B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E8EAA6-57D3-2EA9-A62B-B0FB39B94B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71C51-E0EC-8F47-9C04-007C8D2656A7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0229DB-C9E0-7AA8-DA66-213693D90B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D78827-A777-BCB2-7176-5CA0947B32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F3149C-7DED-4D4B-A841-02CDEAD895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51881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886258-E6BA-393F-8786-0BD5BBFE5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6F1CA4-2C12-516E-B2CB-2D0614D27D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F24EE0-3910-8375-7A80-7B25DF1FDF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71C51-E0EC-8F47-9C04-007C8D2656A7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882ED8-62AF-0D78-84F6-15389D6D8D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A424A0-3307-BB27-C76E-DE61C78C12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F3149C-7DED-4D4B-A841-02CDEAD895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74841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36D2A0C-7DCA-37C9-EDB4-3231DCFE32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C67DE22-AC44-102D-BAB7-B344774BD9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EC88C7-5A4B-C2F0-96F1-44CF93416C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71C51-E0EC-8F47-9C04-007C8D2656A7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42D2E6-947A-87E8-AF71-4A64AE7A7B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BD850E-7865-2D39-332C-EF3252AC83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F3149C-7DED-4D4B-A841-02CDEAD895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66108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EB34762-47B1-12AC-6E03-51D55F0F6F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79C757-520C-F183-EFDD-A812C24761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1D6371-000A-386B-36AB-0EC4923CAA2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971C51-E0EC-8F47-9C04-007C8D2656A7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2C9C3B-4B3B-865C-8024-1108AF5216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C7D71C-7C9D-0759-84D4-008C586153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F3149C-7DED-4D4B-A841-02CDEAD895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14105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title 5">
            <a:extLst>
              <a:ext uri="{FF2B5EF4-FFF2-40B4-BE49-F238E27FC236}">
                <a16:creationId xmlns:a16="http://schemas.microsoft.com/office/drawing/2014/main" id="{185E42F5-075D-229B-FC5C-D933B6E903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87281" y="167632"/>
            <a:ext cx="3208638" cy="401551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From our previous call in week 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D1E64A9-35E7-89A2-F159-34F9F88E0FF7}"/>
              </a:ext>
            </a:extLst>
          </p:cNvPr>
          <p:cNvSpPr txBox="1"/>
          <p:nvPr/>
        </p:nvSpPr>
        <p:spPr>
          <a:xfrm>
            <a:off x="7546890" y="569183"/>
            <a:ext cx="339501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  <a:t>For loops, While loops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  <a:t>Defining custom functions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latin typeface="Helvetica Neue" panose="02000503000000020004" pitchFamily="2" charset="0"/>
              </a:rPr>
              <a:t>range()</a:t>
            </a:r>
            <a:endParaRPr lang="en-US" b="0" i="0" dirty="0">
              <a:solidFill>
                <a:srgbClr val="000000"/>
              </a:solidFill>
              <a:effectLst/>
              <a:latin typeface="Helvetica Neue" panose="02000503000000020004" pitchFamily="2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  <a:t>Apply these to data frames</a:t>
            </a:r>
          </a:p>
        </p:txBody>
      </p:sp>
      <p:sp>
        <p:nvSpPr>
          <p:cNvPr id="9" name="Subtitle 5">
            <a:extLst>
              <a:ext uri="{FF2B5EF4-FFF2-40B4-BE49-F238E27FC236}">
                <a16:creationId xmlns:a16="http://schemas.microsoft.com/office/drawing/2014/main" id="{29DEB4FF-022A-9F3B-17F7-4726DC1B28DF}"/>
              </a:ext>
            </a:extLst>
          </p:cNvPr>
          <p:cNvSpPr txBox="1">
            <a:spLocks/>
          </p:cNvSpPr>
          <p:nvPr/>
        </p:nvSpPr>
        <p:spPr>
          <a:xfrm>
            <a:off x="481656" y="167632"/>
            <a:ext cx="3208638" cy="401551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From our previous call in week 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D45BB96-BC32-EF61-87E4-EE70B862A662}"/>
              </a:ext>
            </a:extLst>
          </p:cNvPr>
          <p:cNvSpPr txBox="1"/>
          <p:nvPr/>
        </p:nvSpPr>
        <p:spPr>
          <a:xfrm>
            <a:off x="641264" y="569183"/>
            <a:ext cx="467368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  <a:t>Intro to Data Frames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  <a:t>Creating/Removing Columns</a:t>
            </a:r>
          </a:p>
        </p:txBody>
      </p:sp>
      <p:graphicFrame>
        <p:nvGraphicFramePr>
          <p:cNvPr id="14" name="Table 10">
            <a:extLst>
              <a:ext uri="{FF2B5EF4-FFF2-40B4-BE49-F238E27FC236}">
                <a16:creationId xmlns:a16="http://schemas.microsoft.com/office/drawing/2014/main" id="{65B035E9-058E-EEB9-BEC6-477524D69A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5804203"/>
              </p:ext>
            </p:extLst>
          </p:nvPr>
        </p:nvGraphicFramePr>
        <p:xfrm>
          <a:off x="302419" y="3094450"/>
          <a:ext cx="11587162" cy="3434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93581">
                  <a:extLst>
                    <a:ext uri="{9D8B030D-6E8A-4147-A177-3AD203B41FA5}">
                      <a16:colId xmlns:a16="http://schemas.microsoft.com/office/drawing/2014/main" val="2388921461"/>
                    </a:ext>
                  </a:extLst>
                </a:gridCol>
                <a:gridCol w="5793581">
                  <a:extLst>
                    <a:ext uri="{9D8B030D-6E8A-4147-A177-3AD203B41FA5}">
                      <a16:colId xmlns:a16="http://schemas.microsoft.com/office/drawing/2014/main" val="19122400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User defined function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Anonymous (Lambda) function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56598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Easy to interpret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Interpretation might be tricky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002783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Supports any number of lines inside a function block</a:t>
                      </a:r>
                      <a:br>
                        <a:rPr lang="en-US" sz="1400" dirty="0"/>
                      </a:b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Supports single-line sometimes statements that return some value.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227606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Good for any cases that require multiple lines of code.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Good for performing short operations/data manipulations.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82336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dirty="0"/>
                        <a:t>We can use comments and function descriptions for easy readability.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dirty="0"/>
                        <a:t>Using the lambda function can sometime reduce the readability of code.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43863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dirty="0"/>
                        <a:t>Do not return anything if not explicitly returned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No need to have return keyword defined explicitly because the lambda function does return an object by default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62616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lambda functions are syntactically restricted to a single expression.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63075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dirty="0"/>
                        <a:t>Execution time is relatively slower for the same operation performed using lambda functions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Execution time of the program is fast for the same operation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12202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276651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able 10">
            <a:extLst>
              <a:ext uri="{FF2B5EF4-FFF2-40B4-BE49-F238E27FC236}">
                <a16:creationId xmlns:a16="http://schemas.microsoft.com/office/drawing/2014/main" id="{12B72BCE-B0AC-4709-90A5-C82F911113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5921593"/>
              </p:ext>
            </p:extLst>
          </p:nvPr>
        </p:nvGraphicFramePr>
        <p:xfrm>
          <a:off x="342900" y="614363"/>
          <a:ext cx="11444288" cy="50149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22144">
                  <a:extLst>
                    <a:ext uri="{9D8B030D-6E8A-4147-A177-3AD203B41FA5}">
                      <a16:colId xmlns:a16="http://schemas.microsoft.com/office/drawing/2014/main" val="2388921461"/>
                    </a:ext>
                  </a:extLst>
                </a:gridCol>
                <a:gridCol w="5722144">
                  <a:extLst>
                    <a:ext uri="{9D8B030D-6E8A-4147-A177-3AD203B41FA5}">
                      <a16:colId xmlns:a16="http://schemas.microsoft.com/office/drawing/2014/main" val="191224006"/>
                    </a:ext>
                  </a:extLst>
                </a:gridCol>
              </a:tblGrid>
              <a:tr h="54052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User defined function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Anonymous (Lambda) function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5659819"/>
                  </a:ext>
                </a:extLst>
              </a:tr>
              <a:tr h="548037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Easy to interpret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Interpretation might be tricky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00278346"/>
                  </a:ext>
                </a:extLst>
              </a:tr>
              <a:tr h="675661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Supports any number of lines inside a function block</a:t>
                      </a:r>
                      <a:br>
                        <a:rPr lang="en-US" sz="1400" dirty="0"/>
                      </a:b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Supports single-line sometimes statements that return some value.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22760664"/>
                  </a:ext>
                </a:extLst>
              </a:tr>
              <a:tr h="548037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Good for any cases that require multiple lines of code.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Good for performing short operations/data manipulations.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8233669"/>
                  </a:ext>
                </a:extLst>
              </a:tr>
              <a:tr h="675661"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dirty="0"/>
                        <a:t>We can use comments and function descriptions for easy readability.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dirty="0"/>
                        <a:t>Using the lambda function can sometime reduce the readability of code.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4386339"/>
                  </a:ext>
                </a:extLst>
              </a:tr>
              <a:tr h="675661"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dirty="0"/>
                        <a:t>Do not return anything if not explicitly returned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No need to have return keyword defined explicitly because the lambda function does return an object by default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6261696"/>
                  </a:ext>
                </a:extLst>
              </a:tr>
              <a:tr h="675661"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lambda functions are syntactically restricted to a single expression.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6307573"/>
                  </a:ext>
                </a:extLst>
              </a:tr>
              <a:tr h="675661"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dirty="0"/>
                        <a:t>Execution time is relatively slower for the same operation performed using lambda functions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Execution time of the program is fast for the same operation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12202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704859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E5C41FB-D265-9540-2E9D-C499F2D46D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97552" y="566230"/>
            <a:ext cx="2596896" cy="372554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PYTHON FUNCTIONS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0C94AAAB-6D26-529A-623F-AA9FB905DFA8}"/>
              </a:ext>
            </a:extLst>
          </p:cNvPr>
          <p:cNvSpPr txBox="1">
            <a:spLocks/>
          </p:cNvSpPr>
          <p:nvPr/>
        </p:nvSpPr>
        <p:spPr>
          <a:xfrm>
            <a:off x="1225296" y="1278066"/>
            <a:ext cx="2596896" cy="3725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700" dirty="0"/>
              <a:t>BUILT-IN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1D271826-C13C-C703-58B2-AE8A1F11A46B}"/>
              </a:ext>
            </a:extLst>
          </p:cNvPr>
          <p:cNvSpPr txBox="1">
            <a:spLocks/>
          </p:cNvSpPr>
          <p:nvPr/>
        </p:nvSpPr>
        <p:spPr>
          <a:xfrm>
            <a:off x="4029456" y="1278066"/>
            <a:ext cx="4133088" cy="3725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700" dirty="0"/>
              <a:t>USER DEFINED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96C93DF5-48D3-55AC-0FB8-B182AD2389E0}"/>
              </a:ext>
            </a:extLst>
          </p:cNvPr>
          <p:cNvSpPr txBox="1">
            <a:spLocks/>
          </p:cNvSpPr>
          <p:nvPr/>
        </p:nvSpPr>
        <p:spPr>
          <a:xfrm>
            <a:off x="8162544" y="1278066"/>
            <a:ext cx="2639568" cy="3725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700" dirty="0"/>
              <a:t>ANONYMOUS (LAMBDA) </a:t>
            </a:r>
          </a:p>
        </p:txBody>
      </p:sp>
      <p:cxnSp>
        <p:nvCxnSpPr>
          <p:cNvPr id="12" name="Elbow Connector 11">
            <a:extLst>
              <a:ext uri="{FF2B5EF4-FFF2-40B4-BE49-F238E27FC236}">
                <a16:creationId xmlns:a16="http://schemas.microsoft.com/office/drawing/2014/main" id="{2E59B2A1-9660-034B-CAE6-8C189C316F45}"/>
              </a:ext>
            </a:extLst>
          </p:cNvPr>
          <p:cNvCxnSpPr>
            <a:stCxn id="3" idx="2"/>
            <a:endCxn id="4" idx="0"/>
          </p:cNvCxnSpPr>
          <p:nvPr/>
        </p:nvCxnSpPr>
        <p:spPr>
          <a:xfrm rot="5400000">
            <a:off x="4140759" y="-677175"/>
            <a:ext cx="339282" cy="357120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Elbow Connector 12">
            <a:extLst>
              <a:ext uri="{FF2B5EF4-FFF2-40B4-BE49-F238E27FC236}">
                <a16:creationId xmlns:a16="http://schemas.microsoft.com/office/drawing/2014/main" id="{DBDAD010-5E9F-48BB-C99F-15D45F76275D}"/>
              </a:ext>
            </a:extLst>
          </p:cNvPr>
          <p:cNvCxnSpPr>
            <a:cxnSpLocks/>
          </p:cNvCxnSpPr>
          <p:nvPr/>
        </p:nvCxnSpPr>
        <p:spPr>
          <a:xfrm rot="5400000">
            <a:off x="5938551" y="1108425"/>
            <a:ext cx="339282" cy="1270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Elbow Connector 15">
            <a:extLst>
              <a:ext uri="{FF2B5EF4-FFF2-40B4-BE49-F238E27FC236}">
                <a16:creationId xmlns:a16="http://schemas.microsoft.com/office/drawing/2014/main" id="{711099DA-AB85-F9C0-F5A1-952A39C2F457}"/>
              </a:ext>
            </a:extLst>
          </p:cNvPr>
          <p:cNvCxnSpPr>
            <a:cxnSpLocks/>
            <a:stCxn id="3" idx="2"/>
            <a:endCxn id="10" idx="0"/>
          </p:cNvCxnSpPr>
          <p:nvPr/>
        </p:nvCxnSpPr>
        <p:spPr>
          <a:xfrm rot="16200000" flipH="1">
            <a:off x="7619523" y="-584739"/>
            <a:ext cx="339282" cy="338632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Subtitle 2">
            <a:extLst>
              <a:ext uri="{FF2B5EF4-FFF2-40B4-BE49-F238E27FC236}">
                <a16:creationId xmlns:a16="http://schemas.microsoft.com/office/drawing/2014/main" id="{305F23D0-792D-4A13-3171-8EA7BA19E689}"/>
              </a:ext>
            </a:extLst>
          </p:cNvPr>
          <p:cNvSpPr txBox="1">
            <a:spLocks/>
          </p:cNvSpPr>
          <p:nvPr/>
        </p:nvSpPr>
        <p:spPr>
          <a:xfrm>
            <a:off x="2061659" y="1617348"/>
            <a:ext cx="2235975" cy="3392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dirty="0"/>
              <a:t>Library functions</a:t>
            </a:r>
          </a:p>
        </p:txBody>
      </p:sp>
      <p:sp>
        <p:nvSpPr>
          <p:cNvPr id="20" name="Subtitle 2">
            <a:extLst>
              <a:ext uri="{FF2B5EF4-FFF2-40B4-BE49-F238E27FC236}">
                <a16:creationId xmlns:a16="http://schemas.microsoft.com/office/drawing/2014/main" id="{14210FF6-D958-A2E5-24B9-0EC4B178E5C3}"/>
              </a:ext>
            </a:extLst>
          </p:cNvPr>
          <p:cNvSpPr txBox="1">
            <a:spLocks/>
          </p:cNvSpPr>
          <p:nvPr/>
        </p:nvSpPr>
        <p:spPr>
          <a:xfrm>
            <a:off x="4912050" y="1662497"/>
            <a:ext cx="2761524" cy="3725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/>
              <a:t>To reduce complexity of big programs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25926309-5ADA-9120-0C55-368FF755114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8348" t="82066"/>
          <a:stretch/>
        </p:blipFill>
        <p:spPr>
          <a:xfrm>
            <a:off x="2061659" y="5216654"/>
            <a:ext cx="2158746" cy="658902"/>
          </a:xfrm>
          <a:prstGeom prst="rect">
            <a:avLst/>
          </a:prstGeom>
        </p:spPr>
      </p:pic>
      <p:sp>
        <p:nvSpPr>
          <p:cNvPr id="22" name="Subtitle 2">
            <a:extLst>
              <a:ext uri="{FF2B5EF4-FFF2-40B4-BE49-F238E27FC236}">
                <a16:creationId xmlns:a16="http://schemas.microsoft.com/office/drawing/2014/main" id="{5B3E3283-806C-B8B5-AED4-607CF93E8019}"/>
              </a:ext>
            </a:extLst>
          </p:cNvPr>
          <p:cNvSpPr txBox="1">
            <a:spLocks/>
          </p:cNvSpPr>
          <p:nvPr/>
        </p:nvSpPr>
        <p:spPr>
          <a:xfrm>
            <a:off x="2085972" y="2655721"/>
            <a:ext cx="1585525" cy="3725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700" dirty="0"/>
              <a:t>SYNTAX</a:t>
            </a:r>
          </a:p>
        </p:txBody>
      </p:sp>
      <p:sp>
        <p:nvSpPr>
          <p:cNvPr id="25" name="Subtitle 2">
            <a:extLst>
              <a:ext uri="{FF2B5EF4-FFF2-40B4-BE49-F238E27FC236}">
                <a16:creationId xmlns:a16="http://schemas.microsoft.com/office/drawing/2014/main" id="{174A4D09-1FCA-77CA-DD7B-885215B7837B}"/>
              </a:ext>
            </a:extLst>
          </p:cNvPr>
          <p:cNvSpPr txBox="1">
            <a:spLocks/>
          </p:cNvSpPr>
          <p:nvPr/>
        </p:nvSpPr>
        <p:spPr>
          <a:xfrm>
            <a:off x="2114147" y="4840181"/>
            <a:ext cx="1594395" cy="3725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700" dirty="0">
                <a:solidFill>
                  <a:srgbClr val="00B0F0"/>
                </a:solidFill>
              </a:rPr>
              <a:t>Example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24BE0DD-AF9D-B1E3-7CF0-B7FDD684C86B}"/>
              </a:ext>
            </a:extLst>
          </p:cNvPr>
          <p:cNvSpPr/>
          <p:nvPr/>
        </p:nvSpPr>
        <p:spPr>
          <a:xfrm>
            <a:off x="2085974" y="1610998"/>
            <a:ext cx="1598254" cy="50238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409F68EC-6996-08DA-989D-82358F93AF1A}"/>
              </a:ext>
            </a:extLst>
          </p:cNvPr>
          <p:cNvSpPr/>
          <p:nvPr/>
        </p:nvSpPr>
        <p:spPr>
          <a:xfrm>
            <a:off x="4868724" y="1620659"/>
            <a:ext cx="2847522" cy="50238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Subtitle 2">
            <a:extLst>
              <a:ext uri="{FF2B5EF4-FFF2-40B4-BE49-F238E27FC236}">
                <a16:creationId xmlns:a16="http://schemas.microsoft.com/office/drawing/2014/main" id="{B0F4627D-167B-2359-E6AB-C86E9C8962A6}"/>
              </a:ext>
            </a:extLst>
          </p:cNvPr>
          <p:cNvSpPr txBox="1">
            <a:spLocks/>
          </p:cNvSpPr>
          <p:nvPr/>
        </p:nvSpPr>
        <p:spPr>
          <a:xfrm>
            <a:off x="8413134" y="1659186"/>
            <a:ext cx="3486423" cy="63630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effectLst/>
              </a:rPr>
              <a:t>Are similar to user-defined functions but</a:t>
            </a:r>
            <a:r>
              <a:rPr lang="en-US" sz="1100" b="1" dirty="0">
                <a:effectLst/>
              </a:rPr>
              <a:t> without a name</a:t>
            </a:r>
            <a:r>
              <a:rPr lang="en-US" sz="1100" dirty="0">
                <a:effectLst/>
              </a:rPr>
              <a:t>.</a:t>
            </a:r>
          </a:p>
          <a:p>
            <a:r>
              <a:rPr lang="en-US" sz="1100" dirty="0"/>
              <a:t>They are efficient whenever you want to create a function that will only contain simple expressions</a:t>
            </a:r>
            <a:endParaRPr lang="en-US" sz="1100" dirty="0">
              <a:effectLst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070ADDCD-B03F-EA81-7B65-AE6D50AC36B2}"/>
              </a:ext>
            </a:extLst>
          </p:cNvPr>
          <p:cNvSpPr/>
          <p:nvPr/>
        </p:nvSpPr>
        <p:spPr>
          <a:xfrm>
            <a:off x="8369808" y="1617348"/>
            <a:ext cx="3486423" cy="72344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EC0F915F-6479-A450-1877-8C1AD243CD0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44324"/>
          <a:stretch/>
        </p:blipFill>
        <p:spPr>
          <a:xfrm>
            <a:off x="4928999" y="5196760"/>
            <a:ext cx="1570169" cy="676800"/>
          </a:xfrm>
          <a:prstGeom prst="rect">
            <a:avLst/>
          </a:prstGeom>
        </p:spPr>
      </p:pic>
      <p:sp>
        <p:nvSpPr>
          <p:cNvPr id="38" name="Rectangle 37">
            <a:extLst>
              <a:ext uri="{FF2B5EF4-FFF2-40B4-BE49-F238E27FC236}">
                <a16:creationId xmlns:a16="http://schemas.microsoft.com/office/drawing/2014/main" id="{9D9D1E65-9199-D1A7-409C-CE4F0E3BFA52}"/>
              </a:ext>
            </a:extLst>
          </p:cNvPr>
          <p:cNvSpPr/>
          <p:nvPr/>
        </p:nvSpPr>
        <p:spPr>
          <a:xfrm>
            <a:off x="2085973" y="2446632"/>
            <a:ext cx="9924795" cy="14828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C103B653-3BB3-D45F-7EA4-CA61C47CB711}"/>
              </a:ext>
            </a:extLst>
          </p:cNvPr>
          <p:cNvSpPr/>
          <p:nvPr/>
        </p:nvSpPr>
        <p:spPr>
          <a:xfrm rot="16200000">
            <a:off x="1251693" y="3865282"/>
            <a:ext cx="5220000" cy="1476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95B1169F-C249-E95F-20D3-F79CCFAED0F5}"/>
              </a:ext>
            </a:extLst>
          </p:cNvPr>
          <p:cNvSpPr/>
          <p:nvPr/>
        </p:nvSpPr>
        <p:spPr>
          <a:xfrm rot="16200000">
            <a:off x="5329395" y="3865548"/>
            <a:ext cx="5220000" cy="1476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Subtitle 2">
            <a:extLst>
              <a:ext uri="{FF2B5EF4-FFF2-40B4-BE49-F238E27FC236}">
                <a16:creationId xmlns:a16="http://schemas.microsoft.com/office/drawing/2014/main" id="{69D7CD7B-A2AA-4A83-30BC-5D300AD671A8}"/>
              </a:ext>
            </a:extLst>
          </p:cNvPr>
          <p:cNvSpPr txBox="1">
            <a:spLocks/>
          </p:cNvSpPr>
          <p:nvPr/>
        </p:nvSpPr>
        <p:spPr>
          <a:xfrm>
            <a:off x="4793257" y="2657282"/>
            <a:ext cx="2596896" cy="3725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700" dirty="0"/>
              <a:t>SYNTAX</a:t>
            </a:r>
          </a:p>
        </p:txBody>
      </p:sp>
      <p:sp>
        <p:nvSpPr>
          <p:cNvPr id="42" name="Subtitle 2">
            <a:extLst>
              <a:ext uri="{FF2B5EF4-FFF2-40B4-BE49-F238E27FC236}">
                <a16:creationId xmlns:a16="http://schemas.microsoft.com/office/drawing/2014/main" id="{D930B6AC-6516-943F-1941-E38F780F9CAE}"/>
              </a:ext>
            </a:extLst>
          </p:cNvPr>
          <p:cNvSpPr txBox="1">
            <a:spLocks/>
          </p:cNvSpPr>
          <p:nvPr/>
        </p:nvSpPr>
        <p:spPr>
          <a:xfrm>
            <a:off x="8205216" y="2640208"/>
            <a:ext cx="2596896" cy="3725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700" dirty="0"/>
              <a:t>SYNTAX</a:t>
            </a:r>
          </a:p>
        </p:txBody>
      </p:sp>
      <p:sp>
        <p:nvSpPr>
          <p:cNvPr id="43" name="Subtitle 2">
            <a:extLst>
              <a:ext uri="{FF2B5EF4-FFF2-40B4-BE49-F238E27FC236}">
                <a16:creationId xmlns:a16="http://schemas.microsoft.com/office/drawing/2014/main" id="{D46670C9-6B43-C23C-6A55-09C50041BF29}"/>
              </a:ext>
            </a:extLst>
          </p:cNvPr>
          <p:cNvSpPr txBox="1">
            <a:spLocks/>
          </p:cNvSpPr>
          <p:nvPr/>
        </p:nvSpPr>
        <p:spPr>
          <a:xfrm>
            <a:off x="2053019" y="3029393"/>
            <a:ext cx="1585524" cy="215719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/>
              <a:t>Varies by function</a:t>
            </a:r>
          </a:p>
        </p:txBody>
      </p:sp>
      <p:sp>
        <p:nvSpPr>
          <p:cNvPr id="48" name="Subtitle 2">
            <a:extLst>
              <a:ext uri="{FF2B5EF4-FFF2-40B4-BE49-F238E27FC236}">
                <a16:creationId xmlns:a16="http://schemas.microsoft.com/office/drawing/2014/main" id="{484F3E4E-63BB-C74F-9C2C-13EC08FDB111}"/>
              </a:ext>
            </a:extLst>
          </p:cNvPr>
          <p:cNvSpPr txBox="1">
            <a:spLocks/>
          </p:cNvSpPr>
          <p:nvPr/>
        </p:nvSpPr>
        <p:spPr>
          <a:xfrm>
            <a:off x="5146094" y="4840181"/>
            <a:ext cx="1746928" cy="3725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700" dirty="0">
                <a:solidFill>
                  <a:srgbClr val="00B0F0"/>
                </a:solidFill>
              </a:rPr>
              <a:t>Example</a:t>
            </a:r>
          </a:p>
        </p:txBody>
      </p:sp>
      <p:sp>
        <p:nvSpPr>
          <p:cNvPr id="49" name="Subtitle 2">
            <a:extLst>
              <a:ext uri="{FF2B5EF4-FFF2-40B4-BE49-F238E27FC236}">
                <a16:creationId xmlns:a16="http://schemas.microsoft.com/office/drawing/2014/main" id="{6989BC9E-81FB-3B59-C403-92455CD77A1C}"/>
              </a:ext>
            </a:extLst>
          </p:cNvPr>
          <p:cNvSpPr txBox="1">
            <a:spLocks/>
          </p:cNvSpPr>
          <p:nvPr/>
        </p:nvSpPr>
        <p:spPr>
          <a:xfrm>
            <a:off x="8848381" y="4840181"/>
            <a:ext cx="1746928" cy="3725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700" dirty="0">
                <a:solidFill>
                  <a:srgbClr val="00B0F0"/>
                </a:solidFill>
              </a:rPr>
              <a:t>Example</a:t>
            </a:r>
          </a:p>
        </p:txBody>
      </p:sp>
      <p:pic>
        <p:nvPicPr>
          <p:cNvPr id="50" name="Picture 49">
            <a:extLst>
              <a:ext uri="{FF2B5EF4-FFF2-40B4-BE49-F238E27FC236}">
                <a16:creationId xmlns:a16="http://schemas.microsoft.com/office/drawing/2014/main" id="{EF1AD6A9-DE0E-237C-F268-9A8F9F32D8A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69443"/>
          <a:stretch/>
        </p:blipFill>
        <p:spPr>
          <a:xfrm>
            <a:off x="8886183" y="5212735"/>
            <a:ext cx="1574800" cy="372554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6B3BFFC3-D9C6-33ED-27BE-454A7C8B5D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00751" y="2988047"/>
            <a:ext cx="3692651" cy="1570754"/>
          </a:xfrm>
          <a:prstGeom prst="rect">
            <a:avLst/>
          </a:prstGeom>
        </p:spPr>
      </p:pic>
      <p:sp>
        <p:nvSpPr>
          <p:cNvPr id="53" name="TextBox 52">
            <a:extLst>
              <a:ext uri="{FF2B5EF4-FFF2-40B4-BE49-F238E27FC236}">
                <a16:creationId xmlns:a16="http://schemas.microsoft.com/office/drawing/2014/main" id="{14CF95DF-8A18-67C2-D311-208D13044458}"/>
              </a:ext>
            </a:extLst>
          </p:cNvPr>
          <p:cNvSpPr txBox="1"/>
          <p:nvPr/>
        </p:nvSpPr>
        <p:spPr>
          <a:xfrm>
            <a:off x="8369809" y="3184544"/>
            <a:ext cx="34795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lambda [</a:t>
            </a:r>
            <a:r>
              <a:rPr lang="en-US" dirty="0" err="1">
                <a:solidFill>
                  <a:schemeClr val="bg1">
                    <a:lumMod val="65000"/>
                  </a:schemeClr>
                </a:solidFill>
              </a:rPr>
              <a:t>args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] : expression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9055163E-43ED-62B8-6825-6C9B56BD5A5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32846" y="5935790"/>
            <a:ext cx="2679700" cy="241300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147C152-388F-07AE-BBEE-D14F421D5CC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48381" y="6307782"/>
            <a:ext cx="2159000" cy="482600"/>
          </a:xfrm>
          <a:prstGeom prst="rect">
            <a:avLst/>
          </a:prstGeom>
        </p:spPr>
      </p:pic>
      <p:sp>
        <p:nvSpPr>
          <p:cNvPr id="56" name="TextBox 55">
            <a:extLst>
              <a:ext uri="{FF2B5EF4-FFF2-40B4-BE49-F238E27FC236}">
                <a16:creationId xmlns:a16="http://schemas.microsoft.com/office/drawing/2014/main" id="{59580F1A-24BC-551C-8519-90A9B14B232C}"/>
              </a:ext>
            </a:extLst>
          </p:cNvPr>
          <p:cNvSpPr txBox="1"/>
          <p:nvPr/>
        </p:nvSpPr>
        <p:spPr>
          <a:xfrm>
            <a:off x="8278368" y="585044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18DA323-9511-3B89-0C31-1EEB527298E7}"/>
              </a:ext>
            </a:extLst>
          </p:cNvPr>
          <p:cNvSpPr txBox="1"/>
          <p:nvPr/>
        </p:nvSpPr>
        <p:spPr>
          <a:xfrm>
            <a:off x="8284464" y="630764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8CB3E961-0533-BEBD-3105-6A6E0DE6E4D8}"/>
              </a:ext>
            </a:extLst>
          </p:cNvPr>
          <p:cNvSpPr/>
          <p:nvPr/>
        </p:nvSpPr>
        <p:spPr>
          <a:xfrm>
            <a:off x="2114147" y="4598093"/>
            <a:ext cx="9924795" cy="14828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7BC3690-8CDF-CBEA-D6F0-138318951054}"/>
              </a:ext>
            </a:extLst>
          </p:cNvPr>
          <p:cNvSpPr txBox="1"/>
          <p:nvPr/>
        </p:nvSpPr>
        <p:spPr>
          <a:xfrm>
            <a:off x="10972304" y="2613802"/>
            <a:ext cx="1099440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Are made to be pasted into higher order functions</a:t>
            </a:r>
          </a:p>
        </p:txBody>
      </p:sp>
    </p:spTree>
    <p:extLst>
      <p:ext uri="{BB962C8B-B14F-4D97-AF65-F5344CB8AC3E}">
        <p14:creationId xmlns:p14="http://schemas.microsoft.com/office/powerpoint/2010/main" val="15753832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109CB23C-E23E-6B1A-35A7-B6417F4616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9372274"/>
              </p:ext>
            </p:extLst>
          </p:nvPr>
        </p:nvGraphicFramePr>
        <p:xfrm>
          <a:off x="371474" y="305328"/>
          <a:ext cx="11515724" cy="492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14589">
                  <a:extLst>
                    <a:ext uri="{9D8B030D-6E8A-4147-A177-3AD203B41FA5}">
                      <a16:colId xmlns:a16="http://schemas.microsoft.com/office/drawing/2014/main" val="196732621"/>
                    </a:ext>
                  </a:extLst>
                </a:gridCol>
                <a:gridCol w="2671762">
                  <a:extLst>
                    <a:ext uri="{9D8B030D-6E8A-4147-A177-3AD203B41FA5}">
                      <a16:colId xmlns:a16="http://schemas.microsoft.com/office/drawing/2014/main" val="2752346072"/>
                    </a:ext>
                  </a:extLst>
                </a:gridCol>
                <a:gridCol w="2586038">
                  <a:extLst>
                    <a:ext uri="{9D8B030D-6E8A-4147-A177-3AD203B41FA5}">
                      <a16:colId xmlns:a16="http://schemas.microsoft.com/office/drawing/2014/main" val="2236445191"/>
                    </a:ext>
                  </a:extLst>
                </a:gridCol>
                <a:gridCol w="3843335">
                  <a:extLst>
                    <a:ext uri="{9D8B030D-6E8A-4147-A177-3AD203B41FA5}">
                      <a16:colId xmlns:a16="http://schemas.microsoft.com/office/drawing/2014/main" val="71734252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Tuples ( , ,)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Lists [ , ,]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Sets { ,,}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Dictionaries { :, :,}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05378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tuple1=(1,2,"college",9)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list1=[1,4,"Gitam",6,"college"]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set1={1,2,3,4,5,"hello","tup"}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dict1={"key1":1,"key2":"value2",3:"value3"}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dict3=</a:t>
                      </a:r>
                      <a:r>
                        <a:rPr lang="en-US" sz="14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dict</a:t>
                      </a:r>
                      <a:r>
                        <a:rPr lang="en-US" sz="14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({1:"apple",2:"cherry",3:"strawberry"})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56296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A collection of </a:t>
                      </a:r>
                      <a:r>
                        <a:rPr lang="en-US" sz="1400" i="1" dirty="0"/>
                        <a:t>ordered</a:t>
                      </a:r>
                      <a:r>
                        <a:rPr lang="en-US" sz="1400" dirty="0"/>
                        <a:t> 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 collection of </a:t>
                      </a:r>
                      <a:r>
                        <a:rPr lang="en-US" sz="1400" i="1" dirty="0"/>
                        <a:t>ordered</a:t>
                      </a:r>
                      <a:r>
                        <a:rPr lang="en-US" sz="1400" dirty="0"/>
                        <a:t> 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A collection of </a:t>
                      </a:r>
                      <a:r>
                        <a:rPr lang="en-US" sz="1400" i="1" dirty="0"/>
                        <a:t>unordered data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A collection of  </a:t>
                      </a:r>
                      <a:r>
                        <a:rPr lang="en-US" sz="1400" i="1" dirty="0"/>
                        <a:t>unordered</a:t>
                      </a:r>
                      <a:r>
                        <a:rPr lang="en-US" sz="1400" dirty="0"/>
                        <a:t> data that stores data in key-value pairs.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22799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Accepts different data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Accepts different data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Accepts different data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Accepts different data type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09795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Does not allow duplicate values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Allows duplicated values, whereas keys can’t be repeated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85525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Immutable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Mutable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Immutable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Mutable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80939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Unlike Sets, a list doesn’t need a built-in function for its creation of a list.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83098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An element cannot be added to the tuple as it is immutable.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adds a single item at the end of the list without modifying the original list.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The set add() method adds a given element to a set.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The update() method updates the dictionary with the specified key-value pairs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60036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b="1" dirty="0"/>
                        <a:t>sequence type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/>
                        <a:t>sequence type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NOT </a:t>
                      </a:r>
                      <a:r>
                        <a:rPr lang="en-US" sz="1400" b="1" dirty="0"/>
                        <a:t>sequence type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9712149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73636F73-2E2D-D5A8-546E-301FC23FB0A5}"/>
              </a:ext>
            </a:extLst>
          </p:cNvPr>
          <p:cNvSpPr txBox="1"/>
          <p:nvPr/>
        </p:nvSpPr>
        <p:spPr>
          <a:xfrm>
            <a:off x="338138" y="5349895"/>
            <a:ext cx="11515724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Sequence types and mutability</a:t>
            </a:r>
          </a:p>
          <a:p>
            <a:endParaRPr lang="en-US" sz="1200" dirty="0"/>
          </a:p>
          <a:p>
            <a:r>
              <a:rPr lang="en-US" sz="1200" dirty="0"/>
              <a:t>A </a:t>
            </a:r>
            <a:r>
              <a:rPr lang="en-US" sz="1200" b="1" dirty="0"/>
              <a:t>sequence type is a type of data in Python which is able to store more than one value (or less than one, as a sequence may be empty), and these values can be sequentially (hence the name) browsed</a:t>
            </a:r>
            <a:r>
              <a:rPr lang="en-US" sz="1200" dirty="0"/>
              <a:t>, element by element. </a:t>
            </a:r>
          </a:p>
          <a:p>
            <a:r>
              <a:rPr lang="en-US" sz="1200" dirty="0"/>
              <a:t>As the </a:t>
            </a:r>
            <a:r>
              <a:rPr lang="en-US" sz="1400" b="1" dirty="0"/>
              <a:t>for</a:t>
            </a:r>
            <a:r>
              <a:rPr lang="en-US" sz="1200" dirty="0"/>
              <a:t> loop is a tool especially designed to iterate through sequences, we can express the definition as</a:t>
            </a:r>
            <a:r>
              <a:rPr lang="en-US" sz="1200" dirty="0">
                <a:highlight>
                  <a:srgbClr val="FFFF00"/>
                </a:highlight>
              </a:rPr>
              <a:t>: </a:t>
            </a:r>
            <a:r>
              <a:rPr lang="en-US" sz="1200" b="1" dirty="0">
                <a:highlight>
                  <a:srgbClr val="FFFF00"/>
                </a:highlight>
              </a:rPr>
              <a:t>a sequence is data which can be scanned by the for loop</a:t>
            </a:r>
            <a:r>
              <a:rPr lang="en-US" sz="1200" dirty="0">
                <a:highlight>
                  <a:srgbClr val="FFFF00"/>
                </a:highlight>
              </a:rPr>
              <a:t>.</a:t>
            </a:r>
          </a:p>
          <a:p>
            <a:endParaRPr lang="en-US" sz="1200" dirty="0"/>
          </a:p>
          <a:p>
            <a:r>
              <a:rPr lang="en-US" sz="1200" b="1" dirty="0"/>
              <a:t>Mutable data can be freely updated at any time</a:t>
            </a:r>
            <a:r>
              <a:rPr lang="en-US" sz="1200" dirty="0"/>
              <a:t> − we call such an operation in situ.</a:t>
            </a:r>
          </a:p>
        </p:txBody>
      </p:sp>
    </p:spTree>
    <p:extLst>
      <p:ext uri="{BB962C8B-B14F-4D97-AF65-F5344CB8AC3E}">
        <p14:creationId xmlns:p14="http://schemas.microsoft.com/office/powerpoint/2010/main" val="16277387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B17FDE-7C6A-303A-B2D4-11C63E9D95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CD80C434-E9A9-6ECE-F2EA-8E29B85D45EA}"/>
              </a:ext>
            </a:extLst>
          </p:cNvPr>
          <p:cNvSpPr/>
          <p:nvPr/>
        </p:nvSpPr>
        <p:spPr>
          <a:xfrm>
            <a:off x="622300" y="330200"/>
            <a:ext cx="9677400" cy="6413500"/>
          </a:xfrm>
          <a:prstGeom prst="roundRect">
            <a:avLst>
              <a:gd name="adj" fmla="val 5776"/>
            </a:avLst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16CEE08-B187-9E2C-9186-BFFF089812A4}"/>
              </a:ext>
            </a:extLst>
          </p:cNvPr>
          <p:cNvSpPr/>
          <p:nvPr/>
        </p:nvSpPr>
        <p:spPr>
          <a:xfrm>
            <a:off x="927100" y="533400"/>
            <a:ext cx="2159000" cy="52070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DICTIONARY { }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858C167-3C0E-DC82-6EBE-88638065B3D7}"/>
              </a:ext>
            </a:extLst>
          </p:cNvPr>
          <p:cNvSpPr/>
          <p:nvPr/>
        </p:nvSpPr>
        <p:spPr>
          <a:xfrm>
            <a:off x="914400" y="1104900"/>
            <a:ext cx="2171700" cy="54737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update()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pop()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popitem</a:t>
            </a:r>
            <a:r>
              <a:rPr lang="en-US" dirty="0"/>
              <a:t>()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del </a:t>
            </a:r>
            <a:r>
              <a:rPr lang="en-US" dirty="0" err="1"/>
              <a:t>dict</a:t>
            </a:r>
            <a:r>
              <a:rPr lang="en-US" dirty="0"/>
              <a:t>[ ]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clear()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get()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items()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keys()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values()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copy()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fromkeys</a:t>
            </a:r>
            <a:r>
              <a:rPr lang="en-US" dirty="0"/>
              <a:t>()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setdefault</a:t>
            </a:r>
            <a:r>
              <a:rPr lang="en-US" dirty="0"/>
              <a:t>()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1A1F1BE0-44FA-9882-F163-31A00127B5A2}"/>
              </a:ext>
            </a:extLst>
          </p:cNvPr>
          <p:cNvSpPr/>
          <p:nvPr/>
        </p:nvSpPr>
        <p:spPr>
          <a:xfrm>
            <a:off x="3238500" y="533400"/>
            <a:ext cx="2159000" cy="52070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set { }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8FB3EC10-9DFC-B420-6EBB-A2246379C7F2}"/>
              </a:ext>
            </a:extLst>
          </p:cNvPr>
          <p:cNvSpPr/>
          <p:nvPr/>
        </p:nvSpPr>
        <p:spPr>
          <a:xfrm>
            <a:off x="3225800" y="1104900"/>
            <a:ext cx="2171700" cy="54737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add()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update()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pop()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remove()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discard()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clear()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copy()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union()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intersection()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difference()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issuperset</a:t>
            </a:r>
            <a:r>
              <a:rPr lang="en-US" dirty="0"/>
              <a:t>()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issubset</a:t>
            </a:r>
            <a:r>
              <a:rPr lang="en-US" dirty="0"/>
              <a:t>()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isintersection</a:t>
            </a:r>
            <a:r>
              <a:rPr lang="en-US" dirty="0"/>
              <a:t>()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isdisjoint</a:t>
            </a:r>
            <a:r>
              <a:rPr lang="en-US" dirty="0"/>
              <a:t>()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6D25F768-571A-8008-0D8B-26973C1D97CD}"/>
              </a:ext>
            </a:extLst>
          </p:cNvPr>
          <p:cNvSpPr/>
          <p:nvPr/>
        </p:nvSpPr>
        <p:spPr>
          <a:xfrm>
            <a:off x="5549900" y="533400"/>
            <a:ext cx="2159000" cy="52070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LIST [ ]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60CC772A-F7A4-A1CE-0504-B313CCA57471}"/>
              </a:ext>
            </a:extLst>
          </p:cNvPr>
          <p:cNvSpPr/>
          <p:nvPr/>
        </p:nvSpPr>
        <p:spPr>
          <a:xfrm>
            <a:off x="5537200" y="1104900"/>
            <a:ext cx="2171700" cy="54737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Insert()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append()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extend()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pop()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remove()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clear()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copy()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reverse()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index()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sort()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count()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6C59B01C-DCCD-FE88-B4DE-E1D5A52F4401}"/>
              </a:ext>
            </a:extLst>
          </p:cNvPr>
          <p:cNvSpPr/>
          <p:nvPr/>
        </p:nvSpPr>
        <p:spPr>
          <a:xfrm>
            <a:off x="7848600" y="533400"/>
            <a:ext cx="2159000" cy="52070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TUPLE ()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AB47FBB3-6209-62BF-FEA6-766AA7D270D6}"/>
              </a:ext>
            </a:extLst>
          </p:cNvPr>
          <p:cNvSpPr/>
          <p:nvPr/>
        </p:nvSpPr>
        <p:spPr>
          <a:xfrm>
            <a:off x="7835900" y="1104900"/>
            <a:ext cx="2171700" cy="54737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+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+=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Index()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sorted()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count()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4697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9C83533-569E-37FC-6D08-43C6F1BD0E07}"/>
              </a:ext>
            </a:extLst>
          </p:cNvPr>
          <p:cNvSpPr/>
          <p:nvPr/>
        </p:nvSpPr>
        <p:spPr>
          <a:xfrm>
            <a:off x="0" y="326126"/>
            <a:ext cx="12097265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0E84B69-9799-BF48-40B0-41D1EDAFF05E}"/>
              </a:ext>
            </a:extLst>
          </p:cNvPr>
          <p:cNvSpPr/>
          <p:nvPr/>
        </p:nvSpPr>
        <p:spPr>
          <a:xfrm>
            <a:off x="-1" y="621400"/>
            <a:ext cx="12097265" cy="22123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Anatomy of a figure">
            <a:extLst>
              <a:ext uri="{FF2B5EF4-FFF2-40B4-BE49-F238E27FC236}">
                <a16:creationId xmlns:a16="http://schemas.microsoft.com/office/drawing/2014/main" id="{28A077AB-1504-E77D-196B-18BDAEBC88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86813" y="4846322"/>
            <a:ext cx="2011678" cy="20116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C8C329F8-1318-B754-069D-CC78A94F4F3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1943"/>
          <a:stretch/>
        </p:blipFill>
        <p:spPr bwMode="auto">
          <a:xfrm>
            <a:off x="0" y="5362832"/>
            <a:ext cx="4186813" cy="13096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A006FEF-985A-542A-A1F4-6F9C2CD5A732}"/>
              </a:ext>
            </a:extLst>
          </p:cNvPr>
          <p:cNvSpPr txBox="1"/>
          <p:nvPr/>
        </p:nvSpPr>
        <p:spPr>
          <a:xfrm>
            <a:off x="231494" y="1551008"/>
            <a:ext cx="6504972" cy="120032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fig                     = </a:t>
            </a:r>
            <a:r>
              <a:rPr lang="en-US" dirty="0" err="1"/>
              <a:t>plt.figure</a:t>
            </a:r>
            <a:r>
              <a:rPr lang="en-US" dirty="0"/>
              <a:t>()             # an empty figure with no Axes</a:t>
            </a:r>
          </a:p>
          <a:p>
            <a:r>
              <a:rPr lang="en-US" dirty="0"/>
              <a:t>fig, ax               = </a:t>
            </a:r>
            <a:r>
              <a:rPr lang="en-US" dirty="0" err="1"/>
              <a:t>plt.subplots</a:t>
            </a:r>
            <a:r>
              <a:rPr lang="en-US" dirty="0"/>
              <a:t>()        # a figure with a single Axes</a:t>
            </a:r>
          </a:p>
          <a:p>
            <a:r>
              <a:rPr lang="en-US" dirty="0"/>
              <a:t>fig, (ax1, ax2)  = </a:t>
            </a:r>
            <a:r>
              <a:rPr lang="en-US" dirty="0" err="1"/>
              <a:t>plt.subplots</a:t>
            </a:r>
            <a:r>
              <a:rPr lang="en-US" dirty="0"/>
              <a:t>(2,1)  # a figure with two Axes       </a:t>
            </a:r>
          </a:p>
          <a:p>
            <a:r>
              <a:rPr lang="en-US" dirty="0"/>
              <a:t>fig, </a:t>
            </a:r>
            <a:r>
              <a:rPr lang="en-US" dirty="0" err="1"/>
              <a:t>axs</a:t>
            </a:r>
            <a:r>
              <a:rPr lang="en-US" dirty="0"/>
              <a:t>              = </a:t>
            </a:r>
            <a:r>
              <a:rPr lang="en-US" dirty="0" err="1"/>
              <a:t>plt.subplots</a:t>
            </a:r>
            <a:r>
              <a:rPr lang="en-US" dirty="0"/>
              <a:t>()        # a figure with a 2x2 grid of Axes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028D382-319C-2A97-1BA3-70539940A841}"/>
              </a:ext>
            </a:extLst>
          </p:cNvPr>
          <p:cNvSpPr/>
          <p:nvPr/>
        </p:nvSpPr>
        <p:spPr>
          <a:xfrm>
            <a:off x="0" y="1087482"/>
            <a:ext cx="12097265" cy="22123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69166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44955</TotalTime>
  <Words>855</Words>
  <Application>Microsoft Office PowerPoint</Application>
  <PresentationFormat>Widescreen</PresentationFormat>
  <Paragraphs>162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Helvetica Neue</vt:lpstr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Humberto Bizarro Luvian</dc:creator>
  <cp:lastModifiedBy>Alejandra Riba Vaca</cp:lastModifiedBy>
  <cp:revision>73</cp:revision>
  <dcterms:created xsi:type="dcterms:W3CDTF">2023-09-04T01:21:44Z</dcterms:created>
  <dcterms:modified xsi:type="dcterms:W3CDTF">2026-04-08T21:27:15Z</dcterms:modified>
</cp:coreProperties>
</file>